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0D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09728" cy="4846320"/>
          </a:xfrm>
          <a:prstGeom prst="rect">
            <a:avLst/>
          </a:prstGeom>
          <a:solidFill>
            <a:srgbClr val="006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icrosoft YaHei"/>
              </a:rPr>
              <a:t>FP8 量化通信接入方案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40280"/>
            <a:ext cx="8229600" cy="25400"/>
          </a:xfrm>
          <a:prstGeom prst="rect">
            <a:avLst/>
          </a:prstGeom>
          <a:solidFill>
            <a:srgbClr val="006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95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99CC"/>
                </a:solidFill>
                <a:latin typeface="Microsoft YaHei"/>
              </a:rPr>
              <a:t>Ulysses 序列并行 · Ascend NPU · FP8 量化通信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A5A70"/>
                </a:solidFill>
                <a:latin typeface="Microsoft YaHei"/>
              </a:rPr>
              <a:t>模型：Wan2.2（视频生成）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A5A70"/>
                </a:solidFill>
                <a:latin typeface="Microsoft YaHei"/>
              </a:rPr>
              <a:t>序列并行度 SP = 4  ·  注意力头数 N = 40  ·  2026.03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5029200"/>
            <a:ext cx="3931920" cy="1371600"/>
          </a:xfrm>
          <a:prstGeom prst="rect">
            <a:avLst/>
          </a:prstGeom>
          <a:solidFill>
            <a:srgbClr val="F0F5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5120640"/>
            <a:ext cx="37490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006DCC"/>
                </a:solidFill>
                <a:latin typeface="Microsoft YaHei"/>
              </a:rPr>
              <a:t>Profiler 数据说明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4A5A70"/>
                </a:solidFill>
                <a:latin typeface="Microsoft YaHei"/>
              </a:rPr>
              <a:t>Before = BF16 BSND alltoall（基线）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4A5A70"/>
                </a:solidFill>
                <a:latin typeface="Microsoft YaHei"/>
              </a:rPr>
              <a:t>After  = FP8 BSND alltoall（代码确认：scatter_idx=2）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D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25400"/>
          </a:xfrm>
          <a:prstGeom prst="rect">
            <a:avLst/>
          </a:prstGeom>
          <a:solidFill>
            <a:srgbClr val="006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方案背景 &amp; 设计决策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DD8FF"/>
                </a:solidFill>
                <a:latin typeface="Microsoft YaHei"/>
              </a:rPr>
              <a:t>Wan2.2 | SP=4 | N=40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5577840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078992"/>
            <a:ext cx="5303520" cy="384048"/>
          </a:xfrm>
          <a:prstGeom prst="rect">
            <a:avLst/>
          </a:prstGeom>
          <a:solidFill>
            <a:srgbClr val="D6EAFF"/>
          </a:solidFill>
          <a:ln w="9525">
            <a:solidFill>
              <a:srgbClr val="006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24712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DCC"/>
                </a:solidFill>
                <a:latin typeface="Microsoft YaHei"/>
              </a:rPr>
              <a:t>▌ 为什么做 FP8 量化通信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72768"/>
            <a:ext cx="5349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2E"/>
                </a:solidFill>
                <a:latin typeface="Microsoft YaHei"/>
              </a:rPr>
              <a:t>• Ulysses SP 每层 3 路 All-to-All（Q / K / V），通信量随 SP 线性增长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2E"/>
                </a:solidFill>
                <a:latin typeface="Microsoft YaHei"/>
              </a:rPr>
              <a:t>• BF16 QKV A2A 实测 3,010 µs，是 attention 关键瓶颈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2E"/>
                </a:solidFill>
                <a:latin typeface="Microsoft YaHei"/>
              </a:rPr>
              <a:t>• FP8 量化：2B/elem → 1B/elem，通信量减半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A1A2E"/>
                </a:solidFill>
                <a:latin typeface="Microsoft YaHei"/>
              </a:rPr>
              <a:t>• 配合 NPU FP8 FA kernel，attention 全段加速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3090672"/>
            <a:ext cx="5212080" cy="25400"/>
          </a:xfrm>
          <a:prstGeom prst="rect">
            <a:avLst/>
          </a:prstGeom>
          <a:solidFill>
            <a:srgbClr val="CC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" y="3200400"/>
            <a:ext cx="5303520" cy="384048"/>
          </a:xfrm>
          <a:prstGeom prst="rect">
            <a:avLst/>
          </a:prstGeom>
          <a:solidFill>
            <a:srgbClr val="D6EAFF"/>
          </a:solidFill>
          <a:ln w="9525">
            <a:solidFill>
              <a:srgbClr val="006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46120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DCC"/>
                </a:solidFill>
                <a:latin typeface="Microsoft YaHei"/>
              </a:rPr>
              <a:t>▌ 为什么选 BSND 方向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47472" y="3675887"/>
          <a:ext cx="5376672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792224"/>
                <a:gridCol w="1024128"/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ADD8FF"/>
                          </a:solidFill>
                          <a:latin typeface="Microsoft YaHei"/>
                        </a:rPr>
                        <a:t>alltoall 方向</a:t>
                      </a:r>
                    </a:p>
                  </a:txBody>
                  <a:tcPr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ADD8FF"/>
                          </a:solidFill>
                          <a:latin typeface="Microsoft YaHei"/>
                        </a:rPr>
                        <a:t>内部 .contiguous() 次数</a:t>
                      </a:r>
                    </a:p>
                  </a:txBody>
                  <a:tcPr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ADD8FF"/>
                          </a:solidFill>
                          <a:latin typeface="Microsoft YaHei"/>
                        </a:rPr>
                        <a:t>结论</a:t>
                      </a:r>
                    </a:p>
                  </a:txBody>
                  <a:tcPr>
                    <a:solidFill>
                      <a:srgbClr val="1E3A6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Microsoft YaHei"/>
                        </a:rPr>
                        <a:t>BSND  scatter N → gather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Microsoft YaHei"/>
                        </a:rPr>
                        <a:t>2 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Microsoft YaHei"/>
                        </a:rPr>
                        <a:t>✓  选定方案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B91C1C"/>
                          </a:solidFill>
                          <a:latin typeface="Microsoft YaHei"/>
                        </a:rPr>
                        <a:t>BNSD  scatter S → gather N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91C1C"/>
                          </a:solidFill>
                          <a:latin typeface="Microsoft YaHei"/>
                        </a:rPr>
                        <a:t>3 次（多 pre-A2A copy）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91C1C"/>
                          </a:solidFill>
                          <a:latin typeface="Microsoft YaHei"/>
                        </a:rPr>
                        <a:t>✗  放弃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11480" y="477316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A5A70"/>
                </a:solidFill>
                <a:latin typeface="Microsoft YaHei"/>
              </a:rPr>
              <a:t>Q/K/V 各 1 路 A2A，BNSD 方向每路多 1 次大 tensor 内存拷贝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006DCC"/>
                </a:solidFill>
                <a:latin typeface="Microsoft YaHei"/>
              </a:rPr>
              <a:t>→ 3 路 × 多 1 次 = 理论额外拷贝开销显著，代码已固定为 BSND 方向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960120"/>
            <a:ext cx="5943600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53912" y="1078992"/>
            <a:ext cx="5669280" cy="384048"/>
          </a:xfrm>
          <a:prstGeom prst="rect">
            <a:avLst/>
          </a:prstGeom>
          <a:solidFill>
            <a:srgbClr val="D6EAFF"/>
          </a:solidFill>
          <a:ln w="9525">
            <a:solidFill>
              <a:srgbClr val="006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124712"/>
            <a:ext cx="5532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DCC"/>
                </a:solidFill>
                <a:latin typeface="Microsoft YaHei"/>
              </a:rPr>
              <a:t>▌ 正交旋转矩阵（QuaRot）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572768"/>
            <a:ext cx="5623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Microsoft YaHei"/>
              </a:rPr>
              <a:t>FP8 量化会截断尾部精度，但 Q/K 的 outlier 分布不均，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Microsoft YaHei"/>
              </a:rPr>
              <a:t>直接量化导致注意力分数误差偏大。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6DCC"/>
                </a:solidFill>
                <a:latin typeface="Microsoft YaHei"/>
              </a:rPr>
              <a:t>→ 量化前对 Q/K 左乘正交旋转矩阵 R：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6DCC"/>
                </a:solidFill>
                <a:latin typeface="Microsoft YaHei"/>
              </a:rPr>
              <a:t>   • R 由 QR 分解生成（seed=42），各层各卡共享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6DCC"/>
                </a:solidFill>
                <a:latin typeface="Microsoft YaHei"/>
              </a:rPr>
              <a:t>   • Q/K 共用同一 R，保证  Q·R·(K·R)ᵀ = QKᵀ  数值不变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7B45"/>
                </a:solidFill>
                <a:latin typeface="Microsoft YaHei"/>
              </a:rPr>
              <a:t>   • 旋转后数值分布更均匀，FP8 量化误差显著降低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3912" y="3319272"/>
            <a:ext cx="5486400" cy="25400"/>
          </a:xfrm>
          <a:prstGeom prst="rect">
            <a:avLst/>
          </a:prstGeom>
          <a:solidFill>
            <a:srgbClr val="CC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3429000"/>
            <a:ext cx="5669280" cy="384048"/>
          </a:xfrm>
          <a:prstGeom prst="rect">
            <a:avLst/>
          </a:prstGeom>
          <a:solidFill>
            <a:srgbClr val="D6EAFF"/>
          </a:solidFill>
          <a:ln w="9525">
            <a:solidFill>
              <a:srgbClr val="006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474720"/>
            <a:ext cx="5532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DCC"/>
                </a:solidFill>
                <a:latin typeface="Microsoft YaHei"/>
              </a:rPr>
              <a:t>▌ Scale All-to-All &amp; Trim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913632"/>
            <a:ext cx="5623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1A2E"/>
                </a:solidFill>
                <a:latin typeface="Microsoft YaHei"/>
              </a:rPr>
              <a:t>fa_block_quant_preprocess 输出 scale 形状：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1A2E"/>
                </a:solidFill>
                <a:latin typeface="Microsoft YaHei"/>
              </a:rPr>
              <a:t>  [B, N, ⌈S_local / bs⌉, 1]（始终 BNSD 风格）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1A2E"/>
                </a:solidFill>
                <a:latin typeface="Microsoft YaHei"/>
              </a:rPr>
              <a:t>Scale alltoall 方向：scatter N(dim=1) → gather blocks(dim=2)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C05A00"/>
                </a:solidFill>
                <a:latin typeface="Microsoft YaHei"/>
              </a:rPr>
              <a:t>alltoall 后：[B, N/P, P × ⌈S_local/bs⌉, 1]  →  需 trim！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1A2E"/>
                </a:solidFill>
                <a:latin typeface="Microsoft YaHei"/>
              </a:rPr>
              <a:t>  原因：P × ⌈S_local/bs⌉ ≥ ⌈S_full/bs⌉，最多多 1 块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1A2E"/>
                </a:solidFill>
                <a:latin typeface="Microsoft YaHei"/>
              </a:rPr>
              <a:t>  操作：scale[:, :, :⌈S_full/bs⌉, :].contiguous()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B91C1C"/>
                </a:solidFill>
                <a:latin typeface="Microsoft YaHei"/>
              </a:rPr>
              <a:t>不 trim 或不 .contiguous() → FA kernel 读到越界 scale → 数值错误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D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25400"/>
          </a:xfrm>
          <a:prstGeom prst="rect">
            <a:avLst/>
          </a:prstGeom>
          <a:solidFill>
            <a:srgbClr val="006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性能对比 · 非 Overlap 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DD8FF"/>
                </a:solidFill>
                <a:latin typeface="Microsoft YaHei"/>
              </a:rPr>
              <a:t>Before=BF16 BSND  |  After=FP8 BSND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8046720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078992"/>
            <a:ext cx="7818120" cy="384048"/>
          </a:xfrm>
          <a:prstGeom prst="rect">
            <a:avLst/>
          </a:prstGeom>
          <a:solidFill>
            <a:srgbClr val="D6EAFF"/>
          </a:solidFill>
          <a:ln w="9525">
            <a:solidFill>
              <a:srgbClr val="006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24712"/>
            <a:ext cx="7680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DCC"/>
                </a:solidFill>
                <a:latin typeface="Microsoft YaHei"/>
              </a:rPr>
              <a:t>▌ 关键算子耗时对比（同一 Transformer 层，N=40，SP=4）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47472" y="1572768"/>
          <a:ext cx="786383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1668"/>
                <a:gridCol w="1898168"/>
                <a:gridCol w="1898168"/>
                <a:gridCol w="1355834"/>
              </a:tblGrid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DD8FF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DD8FF"/>
                          </a:solidFill>
                          <a:latin typeface="Microsoft YaHei"/>
                        </a:rPr>
                        <a:t>Before（BF16 BSND）</a:t>
                      </a:r>
                    </a:p>
                  </a:txBody>
                  <a:tcPr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DD8FF"/>
                          </a:solidFill>
                          <a:latin typeface="Microsoft YaHei"/>
                        </a:rPr>
                        <a:t>After（FP8 BSND）</a:t>
                      </a:r>
                    </a:p>
                  </a:txBody>
                  <a:tcPr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DD8FF"/>
                          </a:solidFill>
                          <a:latin typeface="Microsoft YaHei"/>
                        </a:rPr>
                        <a:t>变化</a:t>
                      </a:r>
                    </a:p>
                  </a:txBody>
                  <a:tcPr>
                    <a:solidFill>
                      <a:srgbClr val="1E3A6E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2E"/>
                          </a:solidFill>
                          <a:latin typeface="Microsoft YaHei"/>
                        </a:rPr>
                        <a:t>QKV A2A 耗时（3 次合计）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2E"/>
                          </a:solidFill>
                          <a:latin typeface="Microsoft YaHei"/>
                        </a:rPr>
                        <a:t>3,010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2E"/>
                          </a:solidFill>
                          <a:latin typeface="Microsoft YaHei"/>
                        </a:rPr>
                        <a:t>1,507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2E"/>
                          </a:solidFill>
                          <a:latin typeface="Microsoft YaHei"/>
                        </a:rPr>
                        <a:t>↓ 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2E"/>
                          </a:solidFill>
                          <a:latin typeface="Microsoft YaHei"/>
                        </a:rPr>
                        <a:t>Scale A2A（3 次）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2E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2E"/>
                          </a:solidFill>
                          <a:latin typeface="Microsoft YaHei"/>
                        </a:rPr>
                        <a:t>~15 µs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2E"/>
                          </a:solidFill>
                          <a:latin typeface="Microsoft YaHei"/>
                        </a:rPr>
                        <a:t>+15 µs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2E"/>
                          </a:solidFill>
                          <a:latin typeface="Microsoft YaHei"/>
                        </a:rPr>
                        <a:t>per-head FP8 量化（×10 头）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2E"/>
                          </a:solidFill>
                          <a:latin typeface="Microsoft YaHei"/>
                        </a:rPr>
                        <a:t>~1,310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2E"/>
                          </a:solidFill>
                          <a:latin typeface="Microsoft YaHei"/>
                        </a:rPr>
                        <a:t>0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2E"/>
                          </a:solidFill>
                          <a:latin typeface="Microsoft YaHei"/>
                        </a:rPr>
                        <a:t>↓ 1,310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2E"/>
                          </a:solidFill>
                          <a:latin typeface="Microsoft YaHei"/>
                        </a:rPr>
                        <a:t>量化预处理（一次性，循环外）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2E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2E"/>
                          </a:solidFill>
                          <a:latin typeface="Microsoft YaHei"/>
                        </a:rPr>
                        <a:t>~1,158 µs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2E"/>
                          </a:solidFill>
                          <a:latin typeface="Microsoft YaHei"/>
                        </a:rPr>
                        <a:t>+1,158 µs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2E"/>
                          </a:solidFill>
                          <a:latin typeface="Microsoft YaHei"/>
                        </a:rPr>
                        <a:t>post-A2A 转置（BSND→BNSD）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2E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2E"/>
                          </a:solidFill>
                          <a:latin typeface="Microsoft YaHei"/>
                        </a:rPr>
                        <a:t>~243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2E"/>
                          </a:solidFill>
                          <a:latin typeface="Microsoft YaHei"/>
                        </a:rPr>
                        <a:t>+243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67B45"/>
                          </a:solidFill>
                          <a:latin typeface="Microsoft YaHei"/>
                        </a:rPr>
                        <a:t>通信+量化 净收益</a:t>
                      </a:r>
                    </a:p>
                  </a:txBody>
                  <a:tcPr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67B45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67B45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67B45"/>
                          </a:solidFill>
                          <a:latin typeface="Microsoft YaHei"/>
                        </a:rPr>
                        <a:t>≈ −1,397 µs</a:t>
                      </a:r>
                    </a:p>
                  </a:txBody>
                  <a:tcPr>
                    <a:solidFill>
                      <a:srgbClr val="E6F4E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47472" y="4956048"/>
            <a:ext cx="7772400" cy="25400"/>
          </a:xfrm>
          <a:prstGeom prst="rect">
            <a:avLst/>
          </a:prstGeom>
          <a:solidFill>
            <a:srgbClr val="CC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047488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A5A70"/>
                </a:solidFill>
                <a:latin typeface="Microsoft YaHei"/>
              </a:rPr>
              <a:t>① post-A2A 转置（+243µs）为 A2A 后 BSND→BNSD 格式转换，供 FA kernel 使用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A5A70"/>
                </a:solidFill>
                <a:latin typeface="Microsoft YaHei"/>
              </a:rPr>
              <a:t>② 输出 All-to-All 两方案均为 BF16 BSND，耗时相同（~968 µs），不计入收益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960120"/>
            <a:ext cx="3474720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41080" y="1078992"/>
            <a:ext cx="3200400" cy="384048"/>
          </a:xfrm>
          <a:prstGeom prst="rect">
            <a:avLst/>
          </a:prstGeom>
          <a:solidFill>
            <a:srgbClr val="D6EAFF"/>
          </a:solidFill>
          <a:ln w="9525">
            <a:solidFill>
              <a:srgbClr val="006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1124712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DCC"/>
                </a:solidFill>
                <a:latin typeface="Microsoft YaHei"/>
              </a:rPr>
              <a:t>▌ A2A 耗时对比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161848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Microsoft YaHei"/>
              </a:rPr>
              <a:t>BF16 Q A2A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56648" y="1581912"/>
            <a:ext cx="1562127" cy="292608"/>
          </a:xfrm>
          <a:prstGeom prst="rect">
            <a:avLst/>
          </a:prstGeom>
          <a:solidFill>
            <a:srgbClr val="C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46207" y="161848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A70"/>
                </a:solidFill>
                <a:latin typeface="Microsoft YaHei"/>
              </a:rPr>
              <a:t>1044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04825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Microsoft YaHei"/>
              </a:rPr>
              <a:t>FP8  Q A2A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56648" y="2011680"/>
            <a:ext cx="734678" cy="292608"/>
          </a:xfrm>
          <a:prstGeom prst="rect">
            <a:avLst/>
          </a:prstGeom>
          <a:solidFill>
            <a:srgbClr val="167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8758" y="204825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A70"/>
                </a:solidFill>
                <a:latin typeface="Microsoft YaHei"/>
              </a:rPr>
              <a:t>491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47802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Microsoft YaHei"/>
              </a:rPr>
              <a:t>BF16 K A2A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56648" y="2441448"/>
            <a:ext cx="1463372" cy="292608"/>
          </a:xfrm>
          <a:prstGeom prst="rect">
            <a:avLst/>
          </a:prstGeom>
          <a:solidFill>
            <a:srgbClr val="C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47452" y="247802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A70"/>
                </a:solidFill>
                <a:latin typeface="Microsoft YaHei"/>
              </a:rPr>
              <a:t>978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29077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Microsoft YaHei"/>
              </a:rPr>
              <a:t>FP8  K A2A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56648" y="2871216"/>
            <a:ext cx="784056" cy="292608"/>
          </a:xfrm>
          <a:prstGeom prst="rect">
            <a:avLst/>
          </a:prstGeom>
          <a:solidFill>
            <a:srgbClr val="167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68136" y="290779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A70"/>
                </a:solidFill>
                <a:latin typeface="Microsoft YaHei"/>
              </a:rPr>
              <a:t>524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333756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Microsoft YaHei"/>
              </a:rPr>
              <a:t>BF16 V A2A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56648" y="3300984"/>
            <a:ext cx="1478335" cy="292608"/>
          </a:xfrm>
          <a:prstGeom prst="rect">
            <a:avLst/>
          </a:prstGeom>
          <a:solidFill>
            <a:srgbClr val="C0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62415" y="333756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A70"/>
                </a:solidFill>
                <a:latin typeface="Microsoft YaHei"/>
              </a:rPr>
              <a:t>988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37673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Microsoft YaHei"/>
              </a:rPr>
              <a:t>FP8  V A2A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56648" y="3730752"/>
            <a:ext cx="736175" cy="292608"/>
          </a:xfrm>
          <a:prstGeom prst="rect">
            <a:avLst/>
          </a:prstGeom>
          <a:solidFill>
            <a:srgbClr val="167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20255" y="376732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A70"/>
                </a:solidFill>
                <a:latin typeface="Microsoft YaHei"/>
              </a:rPr>
              <a:t>492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50749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7B45"/>
                </a:solidFill>
                <a:latin typeface="Microsoft YaHei"/>
              </a:rPr>
              <a:t>FP8 通信量 ×½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7B45"/>
                </a:solidFill>
                <a:latin typeface="Microsoft YaHei"/>
              </a:rPr>
              <a:t>实测 A2A 降低约 50%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7B45"/>
                </a:solidFill>
                <a:latin typeface="Microsoft YaHei"/>
              </a:rPr>
              <a:t>与理论一致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D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25400"/>
          </a:xfrm>
          <a:prstGeom prst="rect">
            <a:avLst/>
          </a:prstGeom>
          <a:solidFill>
            <a:srgbClr val="006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核心数据流  &amp;  接入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DD8FF"/>
                </a:solidFill>
                <a:latin typeface="Microsoft YaHei"/>
              </a:rPr>
              <a:t>FP8 BSND 最终方案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5943600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078992"/>
            <a:ext cx="5669280" cy="329184"/>
          </a:xfrm>
          <a:prstGeom prst="rect">
            <a:avLst/>
          </a:prstGeom>
          <a:solidFill>
            <a:srgbClr val="D6EAFF"/>
          </a:solidFill>
          <a:ln w="9525">
            <a:solidFill>
              <a:srgbClr val="006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24712"/>
            <a:ext cx="5532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DCC"/>
                </a:solidFill>
                <a:latin typeface="Microsoft YaHei"/>
              </a:rPr>
              <a:t>▌ 数据流对比  Before vs After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08760"/>
            <a:ext cx="2697480" cy="274320"/>
          </a:xfrm>
          <a:prstGeom prst="rect">
            <a:avLst/>
          </a:prstGeom>
          <a:solidFill>
            <a:srgbClr val="4A5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2704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</a:rPr>
              <a:t>Before  (BF16 A2A)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508760"/>
            <a:ext cx="2697480" cy="274320"/>
          </a:xfrm>
          <a:prstGeom prst="rect">
            <a:avLst/>
          </a:prstGeom>
          <a:solidFill>
            <a:srgbClr val="006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52704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</a:rPr>
              <a:t>After   (FP8 A2A)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90672" y="1508760"/>
            <a:ext cx="36576" cy="5074920"/>
          </a:xfrm>
          <a:prstGeom prst="rect">
            <a:avLst/>
          </a:prstGeom>
          <a:solidFill>
            <a:srgbClr val="CC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874519"/>
            <a:ext cx="269748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" y="1901951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044"/>
                </a:solidFill>
                <a:latin typeface="Microsoft YaHei"/>
              </a:rPr>
              <a:t>输入 BSND [B,S_local,N,D] BF16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5628" y="2148839"/>
            <a:ext cx="18288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5A70"/>
                </a:solidFill>
                <a:latin typeface="Microsoft YaHei"/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185415"/>
            <a:ext cx="2697480" cy="438912"/>
          </a:xfrm>
          <a:prstGeom prst="rect">
            <a:avLst/>
          </a:prstGeom>
          <a:solidFill>
            <a:srgbClr val="F0F5FF"/>
          </a:solidFill>
          <a:ln w="508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2212847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044"/>
                </a:solidFill>
                <a:latin typeface="Microsoft YaHei"/>
              </a:rPr>
              <a:t>all_to_all_4D(BF16, s=2,g=1)
→ BF16 [B,S_full,N/P,D]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5628" y="2624327"/>
            <a:ext cx="18288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5A70"/>
                </a:solidFill>
                <a:latin typeface="Microsoft YaHei"/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660903"/>
            <a:ext cx="2697480" cy="438912"/>
          </a:xfrm>
          <a:prstGeom prst="rect">
            <a:avLst/>
          </a:prstGeom>
          <a:solidFill>
            <a:srgbClr val="F0F5FF"/>
          </a:solidFill>
          <a:ln w="508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" y="2688335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044"/>
                </a:solidFill>
                <a:latin typeface="Microsoft YaHei"/>
              </a:rPr>
              <a:t>.transpose(1,2).contiguous()
→ BNSD  .split(1,dim=1)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5628" y="3099815"/>
            <a:ext cx="18288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5A70"/>
                </a:solidFill>
                <a:latin typeface="Microsoft YaHei"/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136391"/>
            <a:ext cx="2697480" cy="932688"/>
          </a:xfrm>
          <a:prstGeom prst="rect">
            <a:avLst/>
          </a:prstGeom>
          <a:solidFill>
            <a:srgbClr val="D6EAFF"/>
          </a:solidFill>
          <a:ln w="508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4" y="3163823"/>
            <a:ext cx="26060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6DCC"/>
                </a:solidFill>
                <a:latin typeface="Microsoft YaHei"/>
              </a:rPr>
              <a:t>for head_i in range(N/P):
  Q/K × R
  fa_block_quant_preprocess
  npu_fused_infer_attn_score_v2
  .transpose(1,2) → BSND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95628" y="4069079"/>
            <a:ext cx="18288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5A70"/>
                </a:solidFill>
                <a:latin typeface="Microsoft YaHei"/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105655"/>
            <a:ext cx="2697480" cy="438912"/>
          </a:xfrm>
          <a:prstGeom prst="rect">
            <a:avLst/>
          </a:prstGeom>
          <a:solidFill>
            <a:srgbClr val="1E3A6E"/>
          </a:solidFill>
          <a:ln w="508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4" y="4133087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icrosoft YaHei"/>
              </a:rPr>
              <a:t>.cat(dim=2)
→ BSND [B,S_full,N/P,D]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95628" y="4544567"/>
            <a:ext cx="18288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5A70"/>
                </a:solidFill>
                <a:latin typeface="Microsoft YaHei"/>
              </a:rPr>
              <a:t>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581143"/>
            <a:ext cx="2697480" cy="438912"/>
          </a:xfrm>
          <a:prstGeom prst="rect">
            <a:avLst/>
          </a:prstGeom>
          <a:solidFill>
            <a:srgbClr val="1E3A6E"/>
          </a:solidFill>
          <a:ln w="508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4608575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icrosoft YaHei"/>
              </a:rPr>
              <a:t>all_to_all_4D(BF16, s=1,g=2)
→ BF16 [B,S_local,N,D]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95628" y="5020055"/>
            <a:ext cx="18288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5A70"/>
                </a:solidFill>
                <a:latin typeface="Microsoft YaHei"/>
              </a:rPr>
              <a:t>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54680" y="1874519"/>
            <a:ext cx="269748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9544" y="1901951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044"/>
                </a:solidFill>
                <a:latin typeface="Microsoft YaHei"/>
              </a:rPr>
              <a:t>输入 BSND [B,S_local,N,D] BF16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0268" y="2148839"/>
            <a:ext cx="18288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5A70"/>
                </a:solidFill>
                <a:latin typeface="Microsoft YaHei"/>
              </a:rPr>
              <a:t>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54680" y="2185415"/>
            <a:ext cx="2697480" cy="603504"/>
          </a:xfrm>
          <a:prstGeom prst="rect">
            <a:avLst/>
          </a:prstGeom>
          <a:solidFill>
            <a:srgbClr val="D6EAFF"/>
          </a:solidFill>
          <a:ln w="508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9544" y="2212847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6DCC"/>
                </a:solidFill>
                <a:latin typeface="Microsoft YaHei"/>
              </a:rPr>
              <a:t>Q/K × R  (整体，循环外)
fa_block_quant_preprocess(BSND)
→ FP8 + scale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0268" y="2788919"/>
            <a:ext cx="18288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5A70"/>
                </a:solidFill>
                <a:latin typeface="Microsoft YaHei"/>
              </a:rPr>
              <a:t>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54680" y="2825495"/>
            <a:ext cx="2697480" cy="438912"/>
          </a:xfrm>
          <a:prstGeom prst="rect">
            <a:avLst/>
          </a:prstGeom>
          <a:solidFill>
            <a:srgbClr val="F0F5FF"/>
          </a:solidFill>
          <a:ln w="508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9544" y="2852927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044"/>
                </a:solidFill>
                <a:latin typeface="Microsoft YaHei"/>
              </a:rPr>
              <a:t>all_to_all_4D(FP8,   s=2,g=1) ↓50%
all_to_all_4D(scale, s=1,g=2)+trim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0268" y="3264407"/>
            <a:ext cx="18288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5A70"/>
                </a:solidFill>
                <a:latin typeface="Microsoft YaHei"/>
              </a:rPr>
              <a:t>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54680" y="3300983"/>
            <a:ext cx="2697480" cy="438912"/>
          </a:xfrm>
          <a:prstGeom prst="rect">
            <a:avLst/>
          </a:prstGeom>
          <a:solidFill>
            <a:srgbClr val="F0F5FF"/>
          </a:solidFill>
          <a:ln w="508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9544" y="3328415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044"/>
                </a:solidFill>
                <a:latin typeface="Microsoft YaHei"/>
              </a:rPr>
              <a:t>.transpose(1,2).contiguous()
→ BNSD  .split(1,dim=1)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0268" y="3739895"/>
            <a:ext cx="18288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5A70"/>
                </a:solidFill>
                <a:latin typeface="Microsoft YaHei"/>
              </a:rPr>
              <a:t>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54680" y="3776471"/>
            <a:ext cx="2697480" cy="768096"/>
          </a:xfrm>
          <a:prstGeom prst="rect">
            <a:avLst/>
          </a:prstGeom>
          <a:solidFill>
            <a:srgbClr val="D6EAFF"/>
          </a:solidFill>
          <a:ln w="508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9544" y="3803903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6DCC"/>
                </a:solidFill>
                <a:latin typeface="Microsoft YaHei"/>
              </a:rPr>
              <a:t>for head_i in range(N/P):
  npu_fused_infer_attn_score_v2
  (quant_mode=7, dequant_scale_*)
  .transpose(1,2) → BSND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0268" y="4544567"/>
            <a:ext cx="18288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5A70"/>
                </a:solidFill>
                <a:latin typeface="Microsoft YaHei"/>
              </a:rPr>
              <a:t>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54680" y="4581143"/>
            <a:ext cx="2697480" cy="438912"/>
          </a:xfrm>
          <a:prstGeom prst="rect">
            <a:avLst/>
          </a:prstGeom>
          <a:solidFill>
            <a:srgbClr val="1E3A6E"/>
          </a:solidFill>
          <a:ln w="508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9544" y="4608575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icrosoft YaHei"/>
              </a:rPr>
              <a:t>.cat(dim=2)
→ BSND [B,S_full,N/P,D]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0268" y="5020055"/>
            <a:ext cx="18288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5A70"/>
                </a:solidFill>
                <a:latin typeface="Microsoft YaHei"/>
              </a:rPr>
              <a:t>▼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54680" y="5056631"/>
            <a:ext cx="2697480" cy="438912"/>
          </a:xfrm>
          <a:prstGeom prst="rect">
            <a:avLst/>
          </a:prstGeom>
          <a:solidFill>
            <a:srgbClr val="1E3A6E"/>
          </a:solidFill>
          <a:ln w="508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9544" y="5084063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icrosoft YaHei"/>
              </a:rPr>
              <a:t>all_to_all_4D(BF16, s=1,g=2)
→ BF16 [B,S_local,N,D]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30268" y="5495543"/>
            <a:ext cx="18288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5A70"/>
                </a:solidFill>
                <a:latin typeface="Microsoft YaHei"/>
              </a:rPr>
              <a:t>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960120"/>
            <a:ext cx="5577840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519672" y="1078992"/>
            <a:ext cx="5303520" cy="384048"/>
          </a:xfrm>
          <a:prstGeom prst="rect">
            <a:avLst/>
          </a:prstGeom>
          <a:solidFill>
            <a:srgbClr val="D6EAFF"/>
          </a:solidFill>
          <a:ln w="9525">
            <a:solidFill>
              <a:srgbClr val="006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29400" y="1124712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DCC"/>
                </a:solidFill>
                <a:latin typeface="Microsoft YaHei"/>
              </a:rPr>
              <a:t>▌ 接入 Checklist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1581912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7B45"/>
                </a:solidFill>
                <a:latin typeface="Microsoft YaHei"/>
              </a:rPr>
              <a:t>正交旋转矩阵：seed=42，torch.linalg.qr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2002536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A70"/>
                </a:solidFill>
                <a:latin typeface="Microsoft YaHei"/>
              </a:rPr>
              <a:t>    Q/K 共用同一矩阵，类级缓存，各卡一致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242316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7B45"/>
                </a:solidFill>
                <a:latin typeface="Microsoft YaHei"/>
              </a:rPr>
              <a:t>量化前保存 origin_dtype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0" y="2843784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A70"/>
                </a:solidFill>
                <a:latin typeface="Microsoft YaHei"/>
              </a:rPr>
              <a:t>    FA out_dtype=origin_dtype（不能用 FP8 tensor 的 dtype）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0" y="3264408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7B45"/>
                </a:solidFill>
                <a:latin typeface="Microsoft YaHei"/>
              </a:rPr>
              <a:t>fa_block_quant_preprocess(layout="BSND")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0" y="3685032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A70"/>
                </a:solidFill>
                <a:latin typeface="Microsoft YaHei"/>
              </a:rPr>
              <a:t>    Q block_size=128  /  K/V block_size=256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0" y="4105656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DCC"/>
                </a:solidFill>
                <a:latin typeface="Microsoft YaHei"/>
              </a:rPr>
              <a:t>all_to_all_4D(FP8, scatter=2, gather=1)  ← BSND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0" y="452628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DCC"/>
                </a:solidFill>
                <a:latin typeface="Microsoft YaHei"/>
              </a:rPr>
              <a:t>Scale A2A(scatter=1, gather=2) + trim + .contiguous()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0" y="4946904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7B45"/>
                </a:solidFill>
                <a:latin typeface="Microsoft YaHei"/>
              </a:rPr>
              <a:t>FA 前 .transpose(1,2) → BNSD；FA 后 .transpose(1,2) → BSND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0" y="5367528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7B45"/>
                </a:solidFill>
                <a:latin typeface="Microsoft YaHei"/>
              </a:rPr>
              <a:t>FA kernel: npu_fused_infer_attention_score_v2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0" y="5788152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5A00"/>
                </a:solidFill>
                <a:latin typeface="Microsoft YaHei"/>
              </a:rPr>
              <a:t>Overlap：FP8 A2A 需逐头异步触发（当前 BSND 批量方案有缺陷）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D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88952" cy="25400"/>
          </a:xfrm>
          <a:prstGeom prst="rect">
            <a:avLst/>
          </a:prstGeom>
          <a:solidFill>
            <a:srgbClr val="006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【附录】Overlap 场景分析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DD8FF"/>
                </a:solidFill>
                <a:latin typeface="Microsoft YaHei"/>
              </a:rPr>
              <a:t>Before=BF16 per-head  |  After=FP8 BSND batch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6675120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078992"/>
            <a:ext cx="6400800" cy="384048"/>
          </a:xfrm>
          <a:prstGeom prst="rect">
            <a:avLst/>
          </a:prstGeom>
          <a:solidFill>
            <a:srgbClr val="D6EAFF"/>
          </a:solidFill>
          <a:ln w="9525">
            <a:solidFill>
              <a:srgbClr val="006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24712"/>
            <a:ext cx="6263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DCC"/>
                </a:solidFill>
                <a:latin typeface="Microsoft YaHei"/>
              </a:rPr>
              <a:t>▌ 机制与性能对比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47472" y="1572768"/>
          <a:ext cx="6492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3060"/>
                <a:gridCol w="2164080"/>
                <a:gridCol w="2705100"/>
              </a:tblGrid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ADD8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ADD8FF"/>
                          </a:solidFill>
                          <a:latin typeface="Microsoft YaHei"/>
                        </a:rPr>
                        <a:t>Before（BF16 per-head）</a:t>
                      </a:r>
                    </a:p>
                  </a:txBody>
                  <a:tcPr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ADD8FF"/>
                          </a:solidFill>
                          <a:latin typeface="Microsoft YaHei"/>
                        </a:rPr>
                        <a:t>After（FP8 BSND）</a:t>
                      </a:r>
                    </a:p>
                  </a:txBody>
                  <a:tcPr>
                    <a:solidFill>
                      <a:srgbClr val="1E3A6E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2E"/>
                          </a:solidFill>
                          <a:latin typeface="Microsoft YaHei"/>
                        </a:rPr>
                        <a:t>A2A 总路数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2E"/>
                          </a:solidFill>
                          <a:latin typeface="Microsoft YaHei"/>
                        </a:rPr>
                        <a:t>30 路（逐头异步）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2E"/>
                          </a:solidFill>
                          <a:latin typeface="Microsoft YaHei"/>
                        </a:rPr>
                        <a:t>60 路（批量同步）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2E"/>
                          </a:solidFill>
                          <a:latin typeface="Microsoft YaHei"/>
                        </a:rPr>
                        <a:t>A2A 触发时机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2E"/>
                          </a:solidFill>
                          <a:latin typeface="Microsoft YaHei"/>
                        </a:rPr>
                        <a:t>头 i A2A 与 FA[i-1] 并行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2E"/>
                          </a:solidFill>
                          <a:latin typeface="Microsoft YaHei"/>
                        </a:rPr>
                        <a:t>33 路在 FA[0] 前同步完成
27 路在 FA[0] 后同步完成</a:t>
                      </a:r>
                    </a:p>
                    <a:p>
                      <a:r>
                        <a:t>27 路在 FA[0] 后同步完成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2E"/>
                          </a:solidFill>
                          <a:latin typeface="Microsoft YaHei"/>
                        </a:rPr>
                        <a:t>FA[0] 前等待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2E"/>
                          </a:solidFill>
                          <a:latin typeface="Microsoft YaHei"/>
                        </a:rPr>
                        <a:t>首头 A2A 触发后 ~776µs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2E"/>
                          </a:solidFill>
                          <a:latin typeface="Microsoft YaHei"/>
                        </a:rPr>
                        <a:t>全部 A2A 完成后 ~19,000µs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2E"/>
                          </a:solidFill>
                          <a:latin typeface="Microsoft YaHei"/>
                        </a:rPr>
                        <a:t>FA[0] wait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2E"/>
                          </a:solidFill>
                          <a:latin typeface="Microsoft YaHei"/>
                        </a:rPr>
                        <a:t>211 µs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2E"/>
                          </a:solidFill>
                          <a:latin typeface="Microsoft YaHei"/>
                        </a:rPr>
                        <a:t>136 µs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2E"/>
                          </a:solidFill>
                          <a:latin typeface="Microsoft YaHei"/>
                        </a:rPr>
                        <a:t>FA[1-9] wait 均值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2E"/>
                          </a:solidFill>
                          <a:latin typeface="Microsoft YaHei"/>
                        </a:rPr>
                        <a:t>~168 µs 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2E"/>
                          </a:solidFill>
                          <a:latin typeface="Microsoft YaHei"/>
                        </a:rPr>
                        <a:t>~530 µs  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107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2E"/>
                          </a:solidFill>
                          <a:latin typeface="Microsoft YaHei"/>
                        </a:rPr>
                        <a:t>FA 总耗时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2E"/>
                          </a:solidFill>
                          <a:latin typeface="Microsoft YaHei"/>
                        </a:rPr>
                        <a:t>~64,082 µs（BF16 FA）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A1A2E"/>
                          </a:solidFill>
                          <a:latin typeface="Microsoft YaHei"/>
                        </a:rPr>
                        <a:t>~61,134 µs（FP8 FA 更快）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47472" y="4663440"/>
            <a:ext cx="6400800" cy="347472"/>
          </a:xfrm>
          <a:prstGeom prst="rect">
            <a:avLst/>
          </a:prstGeom>
          <a:solidFill>
            <a:srgbClr val="FFF3E0"/>
          </a:solidFill>
          <a:ln w="9525">
            <a:solidFill>
              <a:srgbClr val="006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709160"/>
            <a:ext cx="6263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5A00"/>
                </a:solidFill>
                <a:latin typeface="Microsoft YaHei"/>
              </a:rPr>
              <a:t>▌ 根因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084064"/>
            <a:ext cx="64922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1A2E"/>
                </a:solidFill>
                <a:latin typeface="Microsoft YaHei"/>
              </a:rPr>
              <a:t>FP8 A2A 批量同步执行：27 路（heads 1-9）在 FA[0] 后统一发射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B91C1C"/>
                </a:solidFill>
                <a:latin typeface="Microsoft YaHei"/>
              </a:rPr>
              <a:t>→ FA[1-9] 在全部 A2A 完成后才能开始，完全无流水线重叠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1A2E"/>
                </a:solidFill>
                <a:latin typeface="Microsoft YaHei"/>
              </a:rPr>
              <a:t>FP8 FA kernel 本身更快（−2,948 µs），但串行化抵消收益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006DCC"/>
                </a:solidFill>
                <a:latin typeface="Microsoft YaHei"/>
              </a:rPr>
              <a:t>改进方向：FP8 A2A 改为逐头异步触发（类 Before 的 AsStrided 模式）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960120"/>
            <a:ext cx="4846320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51192" y="1078992"/>
            <a:ext cx="4572000" cy="384048"/>
          </a:xfrm>
          <a:prstGeom prst="rect">
            <a:avLst/>
          </a:prstGeom>
          <a:solidFill>
            <a:srgbClr val="D6EAFF"/>
          </a:solidFill>
          <a:ln w="9525">
            <a:solidFill>
              <a:srgbClr val="006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1124712"/>
            <a:ext cx="4434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DCC"/>
                </a:solidFill>
                <a:latin typeface="Microsoft YaHei"/>
              </a:rPr>
              <a:t>▌ 逐头 FA Wait 时间（µs）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251192" y="1572768"/>
          <a:ext cx="4663438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274"/>
                <a:gridCol w="1013791"/>
                <a:gridCol w="1013791"/>
                <a:gridCol w="1013791"/>
                <a:gridCol w="1013791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ADD8FF"/>
                          </a:solidFill>
                          <a:latin typeface="Microsoft YaHei"/>
                        </a:rPr>
                        <a:t>头</a:t>
                      </a:r>
                    </a:p>
                  </a:txBody>
                  <a:tcPr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ADD8FF"/>
                          </a:solidFill>
                          <a:latin typeface="Microsoft YaHei"/>
                        </a:rPr>
                        <a:t>Before wait</a:t>
                      </a:r>
                    </a:p>
                  </a:txBody>
                  <a:tcPr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ADD8FF"/>
                          </a:solidFill>
                          <a:latin typeface="Microsoft YaHei"/>
                        </a:rPr>
                        <a:t>After wait</a:t>
                      </a:r>
                    </a:p>
                  </a:txBody>
                  <a:tcPr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ADD8FF"/>
                          </a:solidFill>
                          <a:latin typeface="Microsoft YaHei"/>
                        </a:rPr>
                        <a:t>Before dur.</a:t>
                      </a:r>
                    </a:p>
                  </a:txBody>
                  <a:tcPr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ADD8FF"/>
                          </a:solidFill>
                          <a:latin typeface="Microsoft YaHei"/>
                        </a:rPr>
                        <a:t>After dur.</a:t>
                      </a:r>
                    </a:p>
                  </a:txBody>
                  <a:tcPr>
                    <a:solidFill>
                      <a:srgbClr val="1E3A6E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FA[0]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211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4,719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4,843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FA[1]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207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541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4,722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4,900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FA[2]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622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4,764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4,921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FA[3]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257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491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5,799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4,923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FA[4]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498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5,718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5,382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FA[5]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147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609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8,949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5,566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FA[6]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513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7,721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5,985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FA[7]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142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496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6,116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6,079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FA[8]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477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5,988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8,134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FA[9]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142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527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9,587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</a:rPr>
                        <a:t>10,400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D2044"/>
                          </a:solidFill>
                          <a:latin typeface="Microsoft YaHei"/>
                        </a:rPr>
                        <a:t>合计/均值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2044"/>
                          </a:solidFill>
                          <a:latin typeface="Microsoft YaHei"/>
                        </a:rPr>
                        <a:t>~176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2044"/>
                          </a:solidFill>
                          <a:latin typeface="Microsoft YaHei"/>
                        </a:rPr>
                        <a:t>~491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2044"/>
                          </a:solidFill>
                          <a:latin typeface="Microsoft YaHei"/>
                        </a:rPr>
                        <a:t>64,082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2044"/>
                          </a:solidFill>
                          <a:latin typeface="Microsoft YaHei"/>
                        </a:rPr>
                        <a:t>61,134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251192" y="5870448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A5A70"/>
                </a:solidFill>
                <a:latin typeface="Microsoft YaHei"/>
              </a:rPr>
              <a:t>wait：FA kernel 在队列等待上一 op 的调度延迟（非 A2A 等待）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A5A70"/>
                </a:solidFill>
                <a:latin typeface="Microsoft YaHei"/>
              </a:rPr>
              <a:t>dur：FA kernel 实际执行时长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